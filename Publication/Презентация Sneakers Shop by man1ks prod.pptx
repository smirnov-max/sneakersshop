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65" r:id="rId6"/>
    <p:sldId id="278" r:id="rId7"/>
    <p:sldId id="277" r:id="rId8"/>
    <p:sldId id="279" r:id="rId9"/>
    <p:sldId id="280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42D7FF"/>
    <a:srgbClr val="38BDF8"/>
    <a:srgbClr val="62B4C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8966" autoAdjust="0"/>
  </p:normalViewPr>
  <p:slideViewPr>
    <p:cSldViewPr snapToGrid="0" snapToObjects="1">
      <p:cViewPr>
        <p:scale>
          <a:sx n="75" d="100"/>
          <a:sy n="75" d="100"/>
        </p:scale>
        <p:origin x="-2664" y="-13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12340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="" xmlns:p14="http://schemas.microsoft.com/office/powerpoint/2010/main" val="11128552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14215223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="" xmlns:p14="http://schemas.microsoft.com/office/powerpoint/2010/main" val="35633211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2781119124"/>
      </p:ext>
    </p:extLst>
  </p:cSld>
  <p:clrMapOvr>
    <a:masterClrMapping/>
  </p:clrMapOvr>
  <p:hf sldNum="0" hdr="0" ftr="0" dt="0"/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1929885327"/>
      </p:ext>
    </p:extLst>
  </p:cSld>
  <p:clrMapOvr>
    <a:masterClrMapping/>
  </p:clrMapOvr>
  <p:hf sldNum="0" hdr="0" ftr="0" dt="0"/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37799745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40250371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="" xmlns:p14="http://schemas.microsoft.com/office/powerpoint/2010/main" val="3124571493"/>
      </p:ext>
    </p:extLst>
  </p:cSld>
  <p:clrMapOvr>
    <a:masterClrMapping/>
  </p:clrMapOvr>
  <p:hf sldNum="0" hdr="0" ftr="0" dt="0"/>
  <p:extLst>
    <p:ext uri="{DCECCB84-F9BA-43D5-87BE-67443E8EF086}">
      <p15:sldGuideLst xmlns=""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2084148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39130958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1237243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504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Freeform 6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="" xmlns:p14="http://schemas.microsoft.com/office/powerpoint/2010/main" val="842268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49667" y="1372384"/>
            <a:ext cx="4624874" cy="72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42D7FF"/>
                </a:solidFill>
                <a:latin typeface="Arial" pitchFamily="34" charset="0"/>
                <a:cs typeface="Arial" pitchFamily="34" charset="-120"/>
              </a:rPr>
              <a:t>Sneakers Shop</a:t>
            </a:r>
            <a:endParaRPr lang="en-US" sz="4500" dirty="0">
              <a:solidFill>
                <a:srgbClr val="42D7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2795737" y="2916974"/>
            <a:ext cx="3552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10351" y="2983649"/>
            <a:ext cx="7478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15"/>
              </a:lnSpc>
            </a:pPr>
            <a:r>
              <a:rPr lang="ru-RU" dirty="0" err="1">
                <a:solidFill>
                  <a:srgbClr val="42D7FF"/>
                </a:solidFill>
              </a:rPr>
              <a:t>Sneakers</a:t>
            </a:r>
            <a:r>
              <a:rPr lang="ru-RU" dirty="0">
                <a:solidFill>
                  <a:srgbClr val="42D7FF"/>
                </a:solidFill>
              </a:rPr>
              <a:t> Shop </a:t>
            </a:r>
            <a:r>
              <a:rPr lang="ru-RU" dirty="0"/>
              <a:t>– мобильное приложение для магазина кроссовок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044089" y="3452813"/>
            <a:ext cx="305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ru-RU" sz="1050" dirty="0" smtClean="0"/>
              <a:t>Выполнил</a:t>
            </a:r>
            <a:r>
              <a:rPr lang="en-US" sz="1050" dirty="0" smtClean="0"/>
              <a:t>: </a:t>
            </a:r>
            <a:r>
              <a:rPr lang="ru-RU" sz="1050" dirty="0" smtClean="0"/>
              <a:t>Смирнов </a:t>
            </a:r>
            <a:r>
              <a:rPr lang="ru-RU" sz="1050" dirty="0"/>
              <a:t>Максим ИС-22Б</a:t>
            </a:r>
            <a:endParaRPr lang="en-US" sz="1050" dirty="0"/>
          </a:p>
        </p:txBody>
      </p:sp>
      <p:pic>
        <p:nvPicPr>
          <p:cNvPr id="5126" name="Picture 6" descr="D:\slivin\examen\Publication\ic_launcher_foregroun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50" y="4259355"/>
            <a:ext cx="589429" cy="5894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5218" y="392312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</a:t>
            </a:r>
            <a:endParaRPr lang="en-US" sz="2700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945218" y="1053406"/>
            <a:ext cx="4464050" cy="3697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ru-RU" sz="1600" b="1" dirty="0">
                <a:solidFill>
                  <a:srgbClr val="42D7FF"/>
                </a:solidFill>
              </a:rPr>
              <a:t>Цель:</a:t>
            </a:r>
            <a:r>
              <a:rPr lang="ru-RU" sz="1600" dirty="0">
                <a:solidFill>
                  <a:srgbClr val="42D7FF"/>
                </a:solidFill>
              </a:rPr>
              <a:t> </a:t>
            </a:r>
            <a:r>
              <a:rPr lang="ru-RU" sz="1600" dirty="0"/>
              <a:t>Разработать мобильное приложение для удобного выбора и покупки кроссовок</a:t>
            </a:r>
            <a:r>
              <a:rPr lang="ru-RU" sz="1600" dirty="0" smtClean="0"/>
              <a:t>.</a:t>
            </a:r>
            <a:endParaRPr lang="ru-RU" sz="1600" dirty="0"/>
          </a:p>
          <a:p>
            <a:r>
              <a:rPr lang="ru-RU" sz="1600" b="1" dirty="0">
                <a:solidFill>
                  <a:srgbClr val="42D7FF"/>
                </a:solidFill>
              </a:rPr>
              <a:t>Задачи:</a:t>
            </a:r>
            <a:endParaRPr lang="ru-RU" sz="1600" dirty="0">
              <a:solidFill>
                <a:srgbClr val="42D7FF"/>
              </a:solidFill>
            </a:endParaRPr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Создать пользовательский интерфейс согласно дизайн-макету в </a:t>
            </a:r>
            <a:r>
              <a:rPr lang="ru-RU" sz="1600" dirty="0" err="1"/>
              <a:t>Figma</a:t>
            </a:r>
            <a:r>
              <a:rPr lang="ru-RU" sz="1600" dirty="0"/>
              <a:t>.</a:t>
            </a:r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Реализовать регистрацию, вход и восстановление пароля через </a:t>
            </a:r>
            <a:r>
              <a:rPr lang="ru-RU" sz="1600" dirty="0" err="1"/>
              <a:t>Supabase</a:t>
            </a:r>
            <a:r>
              <a:rPr lang="ru-RU" sz="1600" dirty="0"/>
              <a:t>.</a:t>
            </a:r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Обеспечить загрузку каталога товаров и избранного с сервера.</a:t>
            </a:r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Реализовать профиль пользователя с возможностью редактирования и загрузки фото.</a:t>
            </a:r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Обрабатывать ошибки сети и сервера с индикацией загрузки.</a:t>
            </a:r>
          </a:p>
          <a:p>
            <a:endParaRPr lang="ru-RU" dirty="0"/>
          </a:p>
        </p:txBody>
      </p:sp>
      <p:pic>
        <p:nvPicPr>
          <p:cNvPr id="3074" name="Picture 2" descr="D:\slivin\examen\app\src\main\res\drawable\onboard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0395454">
            <a:off x="-833676" y="544143"/>
            <a:ext cx="4802654" cy="38933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672" y="483899"/>
            <a:ext cx="6620434" cy="45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</a:t>
            </a:r>
            <a:r>
              <a:rPr lang="en-US" sz="2700" b="1" dirty="0" err="1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аграмма</a:t>
            </a:r>
            <a:r>
              <a:rPr lang="en-US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lang="en-US" sz="2700" b="1" dirty="0" err="1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ариантов</a:t>
            </a:r>
            <a:r>
              <a:rPr lang="en-US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ru-RU" sz="2700" b="1" dirty="0">
              <a:solidFill>
                <a:srgbClr val="42D7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</a:t>
            </a:r>
            <a:r>
              <a:rPr lang="en-US" sz="2700" b="1" dirty="0" err="1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спользования</a:t>
            </a:r>
            <a:endParaRPr lang="en-US" sz="2700" dirty="0">
              <a:solidFill>
                <a:srgbClr val="42D7FF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779B3195-3750-8936-5D41-F27907065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83" y="1245899"/>
            <a:ext cx="3950755" cy="2554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833982C-790B-B6E8-97FB-D555C79FD7AA}"/>
              </a:ext>
            </a:extLst>
          </p:cNvPr>
          <p:cNvSpPr txBox="1"/>
          <p:nvPr/>
        </p:nvSpPr>
        <p:spPr>
          <a:xfrm>
            <a:off x="676462" y="1620437"/>
            <a:ext cx="404793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42D7FF"/>
                </a:solidFill>
              </a:rPr>
              <a:t>Актёры:</a:t>
            </a:r>
            <a:r>
              <a:rPr lang="ru-RU" dirty="0">
                <a:solidFill>
                  <a:srgbClr val="42D7FF"/>
                </a:solidFill>
              </a:rPr>
              <a:t> </a:t>
            </a:r>
            <a:r>
              <a:rPr lang="ru-RU" dirty="0"/>
              <a:t>Пользователь</a:t>
            </a:r>
          </a:p>
          <a:p>
            <a:pPr>
              <a:spcBef>
                <a:spcPts val="600"/>
              </a:spcBef>
            </a:pPr>
            <a:r>
              <a:rPr lang="ru-RU" b="1" dirty="0">
                <a:solidFill>
                  <a:srgbClr val="42D7FF"/>
                </a:solidFill>
              </a:rPr>
              <a:t>Варианты использования:</a:t>
            </a:r>
            <a:endParaRPr lang="ru-RU" dirty="0">
              <a:solidFill>
                <a:srgbClr val="42D7FF"/>
              </a:solidFill>
            </a:endParaRPr>
          </a:p>
          <a:p>
            <a:pPr marL="74295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/>
              <a:t>Просмотр </a:t>
            </a:r>
            <a:r>
              <a:rPr lang="ru-RU" dirty="0" smtClean="0"/>
              <a:t>избранного</a:t>
            </a:r>
            <a:endParaRPr lang="ru-RU" dirty="0"/>
          </a:p>
          <a:p>
            <a:pPr marL="74295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/>
              <a:t>Регистрация / </a:t>
            </a:r>
            <a:r>
              <a:rPr lang="ru-RU" dirty="0" smtClean="0"/>
              <a:t>Вход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968E5FD-F3DE-359C-CDD3-C3D95A27531F}"/>
              </a:ext>
            </a:extLst>
          </p:cNvPr>
          <p:cNvSpPr txBox="1"/>
          <p:nvPr/>
        </p:nvSpPr>
        <p:spPr>
          <a:xfrm>
            <a:off x="701862" y="2976823"/>
            <a:ext cx="591259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/>
              <a:t>Просмотр </a:t>
            </a:r>
            <a:r>
              <a:rPr lang="ru-RU" dirty="0" smtClean="0"/>
              <a:t>каталога</a:t>
            </a:r>
            <a:endParaRPr lang="ru-RU" dirty="0"/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 smtClean="0"/>
              <a:t>Просмотр информации товара</a:t>
            </a:r>
            <a:endParaRPr lang="ru-RU" dirty="0"/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 smtClean="0"/>
              <a:t>Добавление в избранное</a:t>
            </a:r>
            <a:endParaRPr lang="ru-RU" dirty="0"/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 smtClean="0"/>
              <a:t>Смена пароля </a:t>
            </a:r>
            <a:r>
              <a:rPr lang="en-US" dirty="0" smtClean="0"/>
              <a:t>/</a:t>
            </a:r>
            <a:r>
              <a:rPr lang="ru-RU" dirty="0" smtClean="0"/>
              <a:t> Восстановление</a:t>
            </a:r>
            <a:endParaRPr lang="ru-RU" dirty="0"/>
          </a:p>
          <a:p>
            <a:pPr marL="720000" lvl="1" indent="-285750">
              <a:spcBef>
                <a:spcPts val="600"/>
              </a:spcBef>
              <a:buClr>
                <a:srgbClr val="42D7FF"/>
              </a:buClr>
              <a:buFont typeface="Arial" panose="020B0604020202020204" pitchFamily="34" charset="0"/>
              <a:buChar char="•"/>
            </a:pPr>
            <a:r>
              <a:rPr lang="ru-RU" dirty="0"/>
              <a:t>Редактирование </a:t>
            </a:r>
            <a:r>
              <a:rPr lang="ru-RU" dirty="0" smtClean="0"/>
              <a:t>профиля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2541" y="609601"/>
            <a:ext cx="433891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</a:t>
            </a:r>
            <a:endParaRPr lang="en-US" sz="2700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010395" y="1635044"/>
            <a:ext cx="4731064" cy="305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42D7FF"/>
                </a:solidFill>
              </a:rPr>
              <a:t>Clean Architecture / MVVM</a:t>
            </a:r>
            <a:r>
              <a:rPr lang="en-US" sz="1600" dirty="0"/>
              <a:t> (</a:t>
            </a:r>
            <a:r>
              <a:rPr lang="ru-RU" sz="1600" dirty="0"/>
              <a:t>разделение на слои):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2D7FF"/>
                </a:solidFill>
              </a:rPr>
              <a:t>Data (Repository)</a:t>
            </a:r>
            <a:r>
              <a:rPr lang="en-US" sz="1600" dirty="0">
                <a:solidFill>
                  <a:srgbClr val="42D7FF"/>
                </a:solidFill>
              </a:rPr>
              <a:t>: </a:t>
            </a:r>
            <a:r>
              <a:rPr lang="ru-RU" sz="1600" dirty="0"/>
              <a:t>работа с сетью (</a:t>
            </a:r>
            <a:r>
              <a:rPr lang="en-US" sz="1600" dirty="0"/>
              <a:t>Retrofit), </a:t>
            </a:r>
            <a:r>
              <a:rPr lang="ru-RU" sz="1600" dirty="0"/>
              <a:t>кэширование, источники данных.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2D7FF"/>
                </a:solidFill>
              </a:rPr>
              <a:t>Domain (Use Cases / Interactors)</a:t>
            </a:r>
            <a:r>
              <a:rPr lang="en-US" sz="1600" dirty="0">
                <a:solidFill>
                  <a:srgbClr val="42D7FF"/>
                </a:solidFill>
              </a:rPr>
              <a:t>: </a:t>
            </a:r>
            <a:r>
              <a:rPr lang="ru-RU" sz="1600" dirty="0"/>
              <a:t>бизнес-логика (не выделялась в отдельный модуль для простоты, но используется </a:t>
            </a:r>
            <a:r>
              <a:rPr lang="en-US" sz="1600" dirty="0" err="1"/>
              <a:t>ViewModel</a:t>
            </a:r>
            <a:r>
              <a:rPr lang="en-US" sz="1600" dirty="0"/>
              <a:t>).</a:t>
            </a:r>
          </a:p>
          <a:p>
            <a:pPr marL="742950" lvl="1" indent="-285750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2D7FF"/>
                </a:solidFill>
              </a:rPr>
              <a:t>Presentation (UI)</a:t>
            </a:r>
            <a:r>
              <a:rPr lang="en-US" sz="1600" dirty="0">
                <a:solidFill>
                  <a:srgbClr val="42D7FF"/>
                </a:solidFill>
              </a:rPr>
              <a:t>: </a:t>
            </a:r>
            <a:r>
              <a:rPr lang="en-US" sz="1600" dirty="0"/>
              <a:t>Compose-</a:t>
            </a:r>
            <a:r>
              <a:rPr lang="ru-RU" sz="1600" dirty="0"/>
              <a:t>экраны, </a:t>
            </a:r>
            <a:r>
              <a:rPr lang="en-US" sz="1600" dirty="0" err="1"/>
              <a:t>ViewModel</a:t>
            </a:r>
            <a:r>
              <a:rPr lang="en-US" sz="1600" dirty="0"/>
              <a:t> (State + Events).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C14E8F5-F2DD-028E-9413-0C499B616A5A}"/>
              </a:ext>
            </a:extLst>
          </p:cNvPr>
          <p:cNvSpPr txBox="1"/>
          <p:nvPr/>
        </p:nvSpPr>
        <p:spPr>
          <a:xfrm>
            <a:off x="1523671" y="3906898"/>
            <a:ext cx="641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42D7FF"/>
                </a:solidFill>
              </a:rPr>
              <a:t>Преимущества:</a:t>
            </a:r>
            <a:r>
              <a:rPr lang="ru-RU" dirty="0"/>
              <a:t> разделение ответственности, тестируемость, </a:t>
            </a:r>
          </a:p>
          <a:p>
            <a:r>
              <a:rPr lang="ru-RU" dirty="0"/>
              <a:t>независимость от источников данных.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415" y="357308"/>
            <a:ext cx="46767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Используемые библиотеки</a:t>
            </a:r>
            <a:endParaRPr lang="en-US" sz="2700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61775" y="947483"/>
            <a:ext cx="8083296" cy="304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Kotlin</a:t>
            </a:r>
            <a:r>
              <a:rPr lang="en-US" sz="1600" dirty="0"/>
              <a:t> – </a:t>
            </a:r>
            <a:r>
              <a:rPr lang="ru-RU" sz="1600" dirty="0"/>
              <a:t>язык разработки.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Jetpack Compose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декларативный </a:t>
            </a:r>
            <a:r>
              <a:rPr lang="en-US" sz="1600" dirty="0"/>
              <a:t>UI.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Material Design 3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готовая стилизация.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Navigation Compose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навигация между экранами.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 err="1">
                <a:solidFill>
                  <a:srgbClr val="42D7FF"/>
                </a:solidFill>
              </a:rPr>
              <a:t>ViewModel</a:t>
            </a:r>
            <a:r>
              <a:rPr lang="en-US" sz="1600" b="1" dirty="0">
                <a:solidFill>
                  <a:srgbClr val="42D7FF"/>
                </a:solidFill>
              </a:rPr>
              <a:t> / </a:t>
            </a:r>
            <a:r>
              <a:rPr lang="en-US" sz="1600" b="1" dirty="0" err="1">
                <a:solidFill>
                  <a:srgbClr val="42D7FF"/>
                </a:solidFill>
              </a:rPr>
              <a:t>LiveData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управление состоянием </a:t>
            </a:r>
            <a:r>
              <a:rPr lang="en-US" sz="1600" dirty="0"/>
              <a:t>UI.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Retrofit + </a:t>
            </a:r>
            <a:r>
              <a:rPr lang="en-US" sz="1600" b="1" dirty="0" err="1">
                <a:solidFill>
                  <a:srgbClr val="42D7FF"/>
                </a:solidFill>
              </a:rPr>
              <a:t>Gson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сетевые запросы, парсинг </a:t>
            </a:r>
            <a:r>
              <a:rPr lang="en-US" sz="1600" dirty="0"/>
              <a:t>JSON.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 err="1">
                <a:solidFill>
                  <a:srgbClr val="42D7FF"/>
                </a:solidFill>
              </a:rPr>
              <a:t>OkHttp</a:t>
            </a:r>
            <a:r>
              <a:rPr lang="en-US" sz="1600" b="1" dirty="0">
                <a:solidFill>
                  <a:srgbClr val="42D7FF"/>
                </a:solidFill>
              </a:rPr>
              <a:t> (Logging Interceptor)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логирование запросов.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Coil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загрузка изображений.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 err="1">
                <a:solidFill>
                  <a:srgbClr val="42D7FF"/>
                </a:solidFill>
              </a:rPr>
              <a:t>Supabase</a:t>
            </a:r>
            <a:r>
              <a:rPr lang="en-US" sz="1600" b="1" dirty="0">
                <a:solidFill>
                  <a:srgbClr val="42D7FF"/>
                </a:solidFill>
              </a:rPr>
              <a:t> (REST API)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бэкенд, аутентификация, база данных.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 err="1">
                <a:solidFill>
                  <a:srgbClr val="42D7FF"/>
                </a:solidFill>
              </a:rPr>
              <a:t>FileProvider</a:t>
            </a:r>
            <a:r>
              <a:rPr lang="en-US" sz="1600" b="1" dirty="0">
                <a:solidFill>
                  <a:srgbClr val="42D7FF"/>
                </a:solidFill>
              </a:rPr>
              <a:t> / CameraX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работа с камерой.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sz="1600" b="1" dirty="0">
                <a:solidFill>
                  <a:srgbClr val="42D7FF"/>
                </a:solidFill>
              </a:rPr>
              <a:t>Kotlin Coroutines</a:t>
            </a:r>
            <a:r>
              <a:rPr lang="en-US" sz="1600" dirty="0">
                <a:solidFill>
                  <a:srgbClr val="42D7FF"/>
                </a:solidFill>
              </a:rPr>
              <a:t> </a:t>
            </a:r>
            <a:r>
              <a:rPr lang="en-US" sz="1600" dirty="0"/>
              <a:t>– </a:t>
            </a:r>
            <a:r>
              <a:rPr lang="ru-RU" sz="1600" dirty="0"/>
              <a:t>асинхронность.</a:t>
            </a:r>
          </a:p>
        </p:txBody>
      </p:sp>
      <p:sp>
        <p:nvSpPr>
          <p:cNvPr id="4" name="Text 2"/>
          <p:cNvSpPr/>
          <p:nvPr/>
        </p:nvSpPr>
        <p:spPr>
          <a:xfrm>
            <a:off x="761775" y="4371878"/>
            <a:ext cx="8083296" cy="41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ru-RU" i="1" dirty="0">
                <a:solidFill>
                  <a:srgbClr val="42D7FF"/>
                </a:solidFill>
              </a:rPr>
              <a:t>Почему не использовались другие библиотеки?</a:t>
            </a:r>
            <a:r>
              <a:rPr lang="ru-RU" dirty="0">
                <a:solidFill>
                  <a:srgbClr val="42D7FF"/>
                </a:solidFill>
              </a:rPr>
              <a:t> </a:t>
            </a:r>
            <a:r>
              <a:rPr lang="ru-RU" dirty="0"/>
              <a:t>– Выбор обусловлен простотой, достаточностью для задач и официальной поддержкой.</a:t>
            </a:r>
            <a:endParaRPr lang="en-US" sz="1140" dirty="0"/>
          </a:p>
        </p:txBody>
      </p:sp>
      <p:pic>
        <p:nvPicPr>
          <p:cNvPr id="1027" name="Picture 3" descr="D:\slivin\examen\app\src\main\res\drawable\onboard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6200000">
            <a:off x="5079785" y="451439"/>
            <a:ext cx="4638065" cy="37351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1983" y="182463"/>
            <a:ext cx="334831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42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</a:t>
            </a:r>
            <a:endParaRPr lang="en-US" sz="2700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98500" y="647105"/>
            <a:ext cx="8083296" cy="435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Регистрация / Вход:</a:t>
            </a:r>
            <a:r>
              <a:rPr lang="ru-RU" sz="1600" b="1" dirty="0" smtClean="0"/>
              <a:t> </a:t>
            </a:r>
            <a:r>
              <a:rPr lang="ru-RU" sz="1600" b="1" dirty="0" err="1" smtClean="0"/>
              <a:t>валидация</a:t>
            </a:r>
            <a:r>
              <a:rPr lang="ru-RU" sz="1600" b="1" dirty="0" smtClean="0"/>
              <a:t> </a:t>
            </a:r>
            <a:r>
              <a:rPr lang="ru-RU" sz="1600" b="1" dirty="0" err="1" smtClean="0"/>
              <a:t>email</a:t>
            </a:r>
            <a:r>
              <a:rPr lang="ru-RU" sz="1600" b="1" dirty="0" smtClean="0"/>
              <a:t> (регулярное выражение), проверка пустоты, показ/скрытие пароля, согласие с условиями, индикация загрузки.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Восстановление пароля: </a:t>
            </a:r>
            <a:r>
              <a:rPr lang="ru-RU" sz="1600" b="1" dirty="0" smtClean="0"/>
              <a:t>запрос на сервер, таймер 60 секунд на повторную отправку OTP.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OTP-верификация:</a:t>
            </a:r>
            <a:r>
              <a:rPr lang="ru-RU" sz="1600" b="1" dirty="0" smtClean="0"/>
              <a:t> ввод 6-значного кода, автоматическая отправка, обработка ошибок (код неверен/истёк).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Смена пароля:</a:t>
            </a:r>
            <a:r>
              <a:rPr lang="ru-RU" sz="1600" b="1" dirty="0" smtClean="0">
                <a:solidFill>
                  <a:srgbClr val="42D7FF"/>
                </a:solidFill>
              </a:rPr>
              <a:t> </a:t>
            </a:r>
            <a:r>
              <a:rPr lang="ru-RU" sz="1600" b="1" dirty="0" smtClean="0"/>
              <a:t>проверка совпадения, минимальная длина 6 символов, переход на экран входа.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Главный экран: </a:t>
            </a:r>
            <a:r>
              <a:rPr lang="ru-RU" sz="1600" b="1" dirty="0" smtClean="0"/>
              <a:t>категории, горизонтальные списки товаров, переход в каталог.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Каталог:</a:t>
            </a:r>
            <a:r>
              <a:rPr lang="ru-RU" sz="1600" b="1" dirty="0" smtClean="0"/>
              <a:t> загрузка с сервера, фильтрация по категориям, добавление/удаление из избранного.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Избранное:</a:t>
            </a:r>
            <a:r>
              <a:rPr lang="ru-RU" sz="1600" b="1" dirty="0" smtClean="0">
                <a:solidFill>
                  <a:srgbClr val="42D7FF"/>
                </a:solidFill>
              </a:rPr>
              <a:t> </a:t>
            </a:r>
            <a:r>
              <a:rPr lang="ru-RU" sz="1600" b="1" dirty="0" smtClean="0"/>
              <a:t>загрузка с сервера, удаление, добавление в корзину (заглушка).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Детали товара:</a:t>
            </a:r>
            <a:r>
              <a:rPr lang="ru-RU" sz="1600" b="1" dirty="0" smtClean="0"/>
              <a:t> описание с возможностью развернуть, смена товара </a:t>
            </a:r>
            <a:r>
              <a:rPr lang="ru-RU" sz="1600" b="1" dirty="0" err="1" smtClean="0"/>
              <a:t>свайпом</a:t>
            </a:r>
            <a:r>
              <a:rPr lang="ru-RU" sz="1600" b="1" dirty="0" smtClean="0"/>
              <a:t>, кнопка избранного.</a:t>
            </a: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Профиль:</a:t>
            </a:r>
            <a:r>
              <a:rPr lang="ru-RU" sz="1600" b="1" dirty="0" smtClean="0">
                <a:solidFill>
                  <a:srgbClr val="42D7FF"/>
                </a:solidFill>
              </a:rPr>
              <a:t> </a:t>
            </a:r>
            <a:r>
              <a:rPr lang="ru-RU" sz="1600" b="1" dirty="0" smtClean="0"/>
              <a:t>загрузка данных с сервера, </a:t>
            </a:r>
            <a:r>
              <a:rPr lang="ru-RU" sz="1600" b="1" dirty="0" err="1" smtClean="0"/>
              <a:t>аватар</a:t>
            </a:r>
            <a:r>
              <a:rPr lang="ru-RU" sz="1600" b="1" dirty="0" smtClean="0"/>
              <a:t> (камера), переход на редактирование.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3091" y="409177"/>
            <a:ext cx="427541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b="1" dirty="0" smtClean="0">
                <a:solidFill>
                  <a:srgbClr val="42D7FF"/>
                </a:solidFill>
              </a:rPr>
              <a:t>База данных (</a:t>
            </a:r>
            <a:r>
              <a:rPr lang="en-US" sz="2800" b="1" dirty="0" err="1" smtClean="0">
                <a:solidFill>
                  <a:srgbClr val="42D7FF"/>
                </a:solidFill>
              </a:rPr>
              <a:t>Supabase</a:t>
            </a:r>
            <a:r>
              <a:rPr lang="en-US" sz="2800" b="1" dirty="0" smtClean="0">
                <a:solidFill>
                  <a:srgbClr val="42D7FF"/>
                </a:solidFill>
              </a:rPr>
              <a:t>)</a:t>
            </a:r>
            <a:endParaRPr lang="en-US" sz="2800" b="1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76300" y="1079500"/>
            <a:ext cx="4889500" cy="364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b="1" dirty="0" smtClean="0">
                <a:solidFill>
                  <a:srgbClr val="42D7FF"/>
                </a:solidFill>
              </a:rPr>
              <a:t>Таблицы:</a:t>
            </a:r>
          </a:p>
          <a:p>
            <a:pPr marL="468000" lvl="1"/>
            <a:r>
              <a:rPr lang="ru-RU" dirty="0" err="1" smtClean="0">
                <a:solidFill>
                  <a:srgbClr val="42D7FF"/>
                </a:solidFill>
              </a:rPr>
              <a:t>profiles</a:t>
            </a:r>
            <a:r>
              <a:rPr lang="ru-RU" dirty="0" smtClean="0"/>
              <a:t> – расширенная информация пользователя (имя, фамилия, адрес, телефон, фото).</a:t>
            </a:r>
          </a:p>
          <a:p>
            <a:pPr marL="468000" lvl="1"/>
            <a:r>
              <a:rPr lang="ru-RU" dirty="0" err="1" smtClean="0">
                <a:solidFill>
                  <a:srgbClr val="42D7FF"/>
                </a:solidFill>
              </a:rPr>
              <a:t>products</a:t>
            </a:r>
            <a:r>
              <a:rPr lang="ru-RU" dirty="0" smtClean="0"/>
              <a:t> – товары (название, категория, цена, описание, флаг бестселлера).</a:t>
            </a:r>
          </a:p>
          <a:p>
            <a:pPr marL="468000" lvl="1"/>
            <a:r>
              <a:rPr lang="ru-RU" dirty="0" err="1" smtClean="0">
                <a:solidFill>
                  <a:srgbClr val="42D7FF"/>
                </a:solidFill>
              </a:rPr>
              <a:t>favourite</a:t>
            </a:r>
            <a:r>
              <a:rPr lang="ru-RU" dirty="0" smtClean="0"/>
              <a:t> – избранное (связь пользователя и товара).</a:t>
            </a:r>
          </a:p>
          <a:p>
            <a:pPr>
              <a:spcBef>
                <a:spcPts val="6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RLS (</a:t>
            </a:r>
            <a:r>
              <a:rPr lang="ru-RU" b="1" dirty="0" err="1" smtClean="0">
                <a:solidFill>
                  <a:srgbClr val="42D7FF"/>
                </a:solidFill>
              </a:rPr>
              <a:t>Row</a:t>
            </a:r>
            <a:r>
              <a:rPr lang="ru-RU" b="1" dirty="0" smtClean="0">
                <a:solidFill>
                  <a:srgbClr val="42D7FF"/>
                </a:solidFill>
              </a:rPr>
              <a:t> </a:t>
            </a:r>
            <a:r>
              <a:rPr lang="ru-RU" b="1" dirty="0" err="1" smtClean="0">
                <a:solidFill>
                  <a:srgbClr val="42D7FF"/>
                </a:solidFill>
              </a:rPr>
              <a:t>Level</a:t>
            </a:r>
            <a:r>
              <a:rPr lang="ru-RU" b="1" dirty="0" smtClean="0">
                <a:solidFill>
                  <a:srgbClr val="42D7FF"/>
                </a:solidFill>
              </a:rPr>
              <a:t> </a:t>
            </a:r>
            <a:r>
              <a:rPr lang="ru-RU" b="1" dirty="0" err="1" smtClean="0">
                <a:solidFill>
                  <a:srgbClr val="42D7FF"/>
                </a:solidFill>
              </a:rPr>
              <a:t>Security</a:t>
            </a:r>
            <a:r>
              <a:rPr lang="ru-RU" b="1" dirty="0" smtClean="0">
                <a:solidFill>
                  <a:srgbClr val="42D7FF"/>
                </a:solidFill>
              </a:rPr>
              <a:t>):</a:t>
            </a:r>
            <a:r>
              <a:rPr lang="ru-RU" dirty="0" smtClean="0"/>
              <a:t> политики, ограничивающие доступ к данным только владельцу.</a:t>
            </a:r>
          </a:p>
          <a:p>
            <a:pPr>
              <a:spcBef>
                <a:spcPts val="6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Триггер:</a:t>
            </a:r>
            <a:r>
              <a:rPr lang="ru-RU" dirty="0" smtClean="0"/>
              <a:t> автоматическое создание профиля при регистрации нового пользователя.</a:t>
            </a:r>
            <a:endParaRPr lang="ru-RU" dirty="0"/>
          </a:p>
        </p:txBody>
      </p:sp>
      <p:pic>
        <p:nvPicPr>
          <p:cNvPr id="4098" name="Picture 2" descr="D:\slivin\examen\app\src\main\res\drawable\onboard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9632231">
            <a:off x="4813300" y="323967"/>
            <a:ext cx="4762500" cy="383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6745" y="500558"/>
            <a:ext cx="221390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b="1" dirty="0" smtClean="0">
                <a:solidFill>
                  <a:srgbClr val="42D7FF"/>
                </a:solidFill>
              </a:rPr>
              <a:t>Безопасность</a:t>
            </a:r>
            <a:endParaRPr lang="en-US" sz="2800" b="1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812054" y="1414662"/>
            <a:ext cx="48895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ru-RU" b="1" dirty="0" err="1" smtClean="0">
                <a:solidFill>
                  <a:srgbClr val="42D7FF"/>
                </a:solidFill>
              </a:rPr>
              <a:t>JWT-токены</a:t>
            </a:r>
            <a:r>
              <a:rPr lang="ru-RU" b="1" dirty="0" smtClean="0">
                <a:solidFill>
                  <a:srgbClr val="42D7FF"/>
                </a:solidFill>
              </a:rPr>
              <a:t>:</a:t>
            </a:r>
            <a:r>
              <a:rPr lang="ru-RU" dirty="0" smtClean="0"/>
              <a:t> </a:t>
            </a:r>
            <a:r>
              <a:rPr lang="ru-RU" dirty="0" err="1" smtClean="0"/>
              <a:t>Supabase</a:t>
            </a:r>
            <a:r>
              <a:rPr lang="ru-RU" dirty="0" smtClean="0"/>
              <a:t> возвращает </a:t>
            </a:r>
            <a:r>
              <a:rPr lang="ru-RU" dirty="0" err="1" smtClean="0"/>
              <a:t>access_token</a:t>
            </a:r>
            <a:r>
              <a:rPr lang="ru-RU" dirty="0" smtClean="0"/>
              <a:t>, который хранится только в памяти (</a:t>
            </a:r>
            <a:r>
              <a:rPr lang="ru-RU" dirty="0" err="1" smtClean="0"/>
              <a:t>UserSession</a:t>
            </a:r>
            <a:r>
              <a:rPr lang="ru-RU" dirty="0" smtClean="0"/>
              <a:t>).</a:t>
            </a:r>
          </a:p>
          <a:p>
            <a:pPr>
              <a:spcAft>
                <a:spcPts val="1200"/>
              </a:spcAft>
            </a:pPr>
            <a:r>
              <a:rPr lang="ru-RU" b="1" dirty="0" smtClean="0">
                <a:solidFill>
                  <a:srgbClr val="42D7FF"/>
                </a:solidFill>
              </a:rPr>
              <a:t>RLS:</a:t>
            </a:r>
            <a:r>
              <a:rPr lang="ru-RU" dirty="0" smtClean="0"/>
              <a:t> пользователь может видеть/изменять только свои записи в таблицах </a:t>
            </a:r>
            <a:r>
              <a:rPr lang="ru-RU" dirty="0" err="1" smtClean="0"/>
              <a:t>profiles</a:t>
            </a:r>
            <a:r>
              <a:rPr lang="ru-RU" dirty="0" smtClean="0"/>
              <a:t> и </a:t>
            </a:r>
            <a:r>
              <a:rPr lang="ru-RU" dirty="0" err="1" smtClean="0"/>
              <a:t>favourite</a:t>
            </a:r>
            <a:r>
              <a:rPr lang="ru-RU" dirty="0" smtClean="0"/>
              <a:t>.</a:t>
            </a:r>
          </a:p>
          <a:p>
            <a:pPr>
              <a:spcAft>
                <a:spcPts val="1200"/>
              </a:spcAft>
            </a:pPr>
            <a:r>
              <a:rPr lang="ru-RU" b="1" dirty="0" smtClean="0">
                <a:solidFill>
                  <a:srgbClr val="42D7FF"/>
                </a:solidFill>
              </a:rPr>
              <a:t>API ключ:</a:t>
            </a:r>
            <a:r>
              <a:rPr lang="ru-RU" dirty="0" smtClean="0"/>
              <a:t> используется как заголовок </a:t>
            </a:r>
            <a:r>
              <a:rPr lang="ru-RU" dirty="0" err="1" smtClean="0"/>
              <a:t>apikey</a:t>
            </a:r>
            <a:r>
              <a:rPr lang="ru-RU" dirty="0" smtClean="0"/>
              <a:t> для всех запросов (анонимный ключ с ограниченными правами).</a:t>
            </a:r>
          </a:p>
          <a:p>
            <a:r>
              <a:rPr lang="ru-RU" b="1" dirty="0" smtClean="0">
                <a:solidFill>
                  <a:srgbClr val="42D7FF"/>
                </a:solidFill>
              </a:rPr>
              <a:t>Камера:</a:t>
            </a:r>
            <a:r>
              <a:rPr lang="ru-RU" dirty="0" smtClean="0"/>
              <a:t> запрос разрешения CAMERA во время выполнения, обработка отказа.</a:t>
            </a:r>
            <a:endParaRPr lang="ru-RU" dirty="0"/>
          </a:p>
        </p:txBody>
      </p:sp>
      <p:pic>
        <p:nvPicPr>
          <p:cNvPr id="1026" name="Picture 2" descr="W:\МДК 01.03 Разработка мобильных приложений\Учебная практика\products\60f2ced6-7b81-465d-bc0f-9c3395b78c56-99999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3838477">
            <a:off x="124923" y="84587"/>
            <a:ext cx="4328724" cy="43287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5595" y="383777"/>
            <a:ext cx="278335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b="1" dirty="0" smtClean="0">
                <a:solidFill>
                  <a:srgbClr val="42D7FF"/>
                </a:solidFill>
              </a:rPr>
              <a:t>Итоги и выводы</a:t>
            </a:r>
            <a:endParaRPr lang="en-US" sz="2800" b="1" dirty="0">
              <a:solidFill>
                <a:srgbClr val="42D7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059454" y="1066800"/>
            <a:ext cx="5408146" cy="273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Реализовано:</a:t>
            </a:r>
            <a:r>
              <a:rPr lang="ru-RU" dirty="0" smtClean="0"/>
              <a:t> полный функционал авторизации, каталог, избранное, профиль, детали товара.</a:t>
            </a:r>
          </a:p>
          <a:p>
            <a:pPr>
              <a:spcBef>
                <a:spcPts val="12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Не реализовано (День 4):</a:t>
            </a:r>
            <a:r>
              <a:rPr lang="ru-RU" dirty="0" smtClean="0"/>
              <a:t> корзина, оформление заказа, история заказов (оставлено на будущее).</a:t>
            </a:r>
          </a:p>
          <a:p>
            <a:pPr>
              <a:spcBef>
                <a:spcPts val="12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Стек технологий:</a:t>
            </a:r>
            <a:r>
              <a:rPr lang="ru-RU" dirty="0" smtClean="0"/>
              <a:t> современный Android-стек (</a:t>
            </a:r>
            <a:r>
              <a:rPr lang="ru-RU" dirty="0" err="1" smtClean="0"/>
              <a:t>Kotlin</a:t>
            </a:r>
            <a:r>
              <a:rPr lang="ru-RU" dirty="0" smtClean="0"/>
              <a:t>, </a:t>
            </a:r>
            <a:r>
              <a:rPr lang="ru-RU" dirty="0" err="1" smtClean="0"/>
              <a:t>Compose</a:t>
            </a:r>
            <a:r>
              <a:rPr lang="ru-RU" dirty="0" smtClean="0"/>
              <a:t>, </a:t>
            </a:r>
            <a:r>
              <a:rPr lang="ru-RU" dirty="0" err="1" smtClean="0"/>
              <a:t>Clean</a:t>
            </a:r>
            <a:r>
              <a:rPr lang="ru-RU" dirty="0" smtClean="0"/>
              <a:t> </a:t>
            </a:r>
            <a:r>
              <a:rPr lang="ru-RU" dirty="0" err="1" smtClean="0"/>
              <a:t>Architecture</a:t>
            </a:r>
            <a:r>
              <a:rPr lang="ru-RU" dirty="0" smtClean="0"/>
              <a:t>, </a:t>
            </a:r>
            <a:r>
              <a:rPr lang="ru-RU" dirty="0" err="1" smtClean="0"/>
              <a:t>Coroutines</a:t>
            </a:r>
            <a:r>
              <a:rPr lang="ru-RU" dirty="0" smtClean="0"/>
              <a:t>).</a:t>
            </a:r>
          </a:p>
          <a:p>
            <a:pPr>
              <a:spcBef>
                <a:spcPts val="1200"/>
              </a:spcBef>
            </a:pPr>
            <a:r>
              <a:rPr lang="ru-RU" b="1" dirty="0" smtClean="0">
                <a:solidFill>
                  <a:srgbClr val="42D7FF"/>
                </a:solidFill>
              </a:rPr>
              <a:t>Планы на будущее</a:t>
            </a:r>
            <a:r>
              <a:rPr lang="ru-RU" b="1" dirty="0" smtClean="0"/>
              <a:t>:</a:t>
            </a:r>
            <a:r>
              <a:rPr lang="ru-RU" dirty="0" smtClean="0"/>
              <a:t> добавить корзину, оплату, push-уведомления, интеграцию с картами.</a:t>
            </a:r>
            <a:endParaRPr lang="ru-RU" dirty="0"/>
          </a:p>
        </p:txBody>
      </p:sp>
      <p:pic>
        <p:nvPicPr>
          <p:cNvPr id="2050" name="Picture 2" descr="W:\МДК 01.03 Разработка мобильных приложений\Учебная практика\products\64229908-3713-4147-bedc-68ddaef9c67a-ffffff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20726810">
            <a:off x="4781551" y="1317091"/>
            <a:ext cx="4762500" cy="4762500"/>
          </a:xfrm>
          <a:prstGeom prst="rect">
            <a:avLst/>
          </a:prstGeom>
          <a:noFill/>
        </p:spPr>
      </p:pic>
      <p:pic>
        <p:nvPicPr>
          <p:cNvPr id="2051" name="Picture 3" descr="W:\МДК 01.03 Разработка мобильных приложений\Учебная практика\products\b12a26f0-31ff-4c54-b6e8-9701a25030fe-ffffff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770095" flipH="1">
            <a:off x="-277612" y="1631951"/>
            <a:ext cx="4250204" cy="4762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Эмблема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156</TotalTime>
  <Words>90</Words>
  <Application>Microsoft Office PowerPoint</Application>
  <PresentationFormat>Экран (16:9)</PresentationFormat>
  <Paragraphs>78</Paragraphs>
  <Slides>9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Эмблема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android242</cp:lastModifiedBy>
  <cp:revision>13</cp:revision>
  <dcterms:created xsi:type="dcterms:W3CDTF">2025-12-19T20:15:46Z</dcterms:created>
  <dcterms:modified xsi:type="dcterms:W3CDTF">2026-03-06T09:37:20Z</dcterms:modified>
</cp:coreProperties>
</file>